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5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55" autoAdjust="0"/>
  </p:normalViewPr>
  <p:slideViewPr>
    <p:cSldViewPr snapToGrid="0">
      <p:cViewPr varScale="1">
        <p:scale>
          <a:sx n="99" d="100"/>
          <a:sy n="99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44A0D-912D-4A59-9C85-D814A455FFF1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48147-D804-417E-AD2F-FBC060FE28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4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프로젝트 특징 </a:t>
            </a:r>
            <a:r>
              <a:rPr lang="en-US" altLang="ko-KR" b="1"/>
              <a:t>(</a:t>
            </a:r>
            <a:r>
              <a:rPr lang="ko-KR" altLang="en-US" b="1"/>
              <a:t>한 줄 강조용</a:t>
            </a:r>
            <a:r>
              <a:rPr lang="en-US" altLang="ko-KR" b="1"/>
              <a:t>)</a:t>
            </a:r>
          </a:p>
          <a:p>
            <a:r>
              <a:rPr lang="en-US" altLang="ko-KR"/>
              <a:t>GUI </a:t>
            </a:r>
            <a:r>
              <a:rPr lang="ko-KR" altLang="en-US"/>
              <a:t>기반 제어 이전에 </a:t>
            </a:r>
            <a:r>
              <a:rPr lang="en-US" altLang="ko-KR"/>
              <a:t>ROS2 </a:t>
            </a:r>
            <a:r>
              <a:rPr lang="ko-KR" altLang="en-US"/>
              <a:t>및 </a:t>
            </a:r>
            <a:r>
              <a:rPr lang="en-US" altLang="ko-KR"/>
              <a:t>MoveIt </a:t>
            </a:r>
            <a:r>
              <a:rPr lang="ko-KR" altLang="en-US"/>
              <a:t>환경에서 로봇 제어를 선행 검증하여</a:t>
            </a:r>
            <a:br>
              <a:rPr lang="ko-KR" altLang="en-US"/>
            </a:br>
            <a:r>
              <a:rPr lang="ko-KR" altLang="en-US"/>
              <a:t>시스템의 안정성과 재현성을 확보하였다</a:t>
            </a:r>
            <a:r>
              <a:rPr lang="en-US" altLang="ko-KR"/>
              <a:t>.</a:t>
            </a:r>
          </a:p>
          <a:p>
            <a:r>
              <a:rPr lang="ko-KR" altLang="en-US" b="1"/>
              <a:t>🔎 발표용 한 줄 요약 멘트</a:t>
            </a:r>
          </a:p>
          <a:p>
            <a:r>
              <a:rPr lang="ko-KR" altLang="en-US"/>
              <a:t>“본 프로젝트는 </a:t>
            </a:r>
            <a:r>
              <a:rPr lang="en-US" altLang="ko-KR"/>
              <a:t>ROS2</a:t>
            </a:r>
            <a:r>
              <a:rPr lang="ko-KR" altLang="en-US"/>
              <a:t>와 </a:t>
            </a:r>
            <a:r>
              <a:rPr lang="en-US" altLang="ko-KR"/>
              <a:t>MoveIt2 </a:t>
            </a:r>
            <a:r>
              <a:rPr lang="ko-KR" altLang="en-US"/>
              <a:t>기반으로 </a:t>
            </a:r>
            <a:r>
              <a:rPr lang="en-US" altLang="ko-KR"/>
              <a:t>Doosan E0509 </a:t>
            </a:r>
            <a:r>
              <a:rPr lang="ko-KR" altLang="en-US"/>
              <a:t>로봇암을 제어하며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사용자 입력 좌표에 따라 말단을 이동시키는 </a:t>
            </a:r>
            <a:r>
              <a:rPr lang="en-US" altLang="ko-KR"/>
              <a:t>GUI </a:t>
            </a:r>
            <a:r>
              <a:rPr lang="ko-KR" altLang="en-US"/>
              <a:t>기반 시뮬레이션 시스템입니다</a:t>
            </a:r>
            <a:r>
              <a:rPr lang="en-US" altLang="ko-KR"/>
              <a:t>.”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8147-D804-417E-AD2F-FBC060FE286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244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설계 특징 </a:t>
            </a:r>
            <a:r>
              <a:rPr lang="en-US" altLang="ko-KR" b="1"/>
              <a:t>(</a:t>
            </a:r>
            <a:r>
              <a:rPr lang="ko-KR" altLang="en-US" b="1"/>
              <a:t>중요 강조 포인트</a:t>
            </a:r>
            <a:r>
              <a:rPr lang="en-US" altLang="ko-KR" b="1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GUI</a:t>
            </a:r>
            <a:r>
              <a:rPr lang="ko-KR" altLang="en-US"/>
              <a:t>는 </a:t>
            </a:r>
            <a:r>
              <a:rPr lang="ko-KR" altLang="en-US" b="1"/>
              <a:t>로봇을 직접 제어하지 않고</a:t>
            </a:r>
            <a:r>
              <a:rPr lang="en-US" altLang="ko-KR"/>
              <a:t>, MoveIt</a:t>
            </a:r>
            <a:r>
              <a:rPr lang="ko-KR" altLang="en-US"/>
              <a:t>을 통해 간접 제어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제어 로직과 사용자 인터페이스를 분리하여 안정성 확보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GUI </a:t>
            </a:r>
            <a:r>
              <a:rPr lang="ko-KR" altLang="en-US"/>
              <a:t>구현 이전에 </a:t>
            </a:r>
            <a:r>
              <a:rPr lang="en-US" altLang="ko-KR" b="1"/>
              <a:t>MoveIt </a:t>
            </a:r>
            <a:r>
              <a:rPr lang="ko-KR" altLang="en-US" b="1"/>
              <a:t>및 </a:t>
            </a:r>
            <a:r>
              <a:rPr lang="en-US" altLang="ko-KR" b="1"/>
              <a:t>ROS2 </a:t>
            </a:r>
            <a:r>
              <a:rPr lang="ko-KR" altLang="en-US" b="1"/>
              <a:t>환경에서 </a:t>
            </a:r>
            <a:r>
              <a:rPr lang="en-US" altLang="ko-KR" b="1"/>
              <a:t>CLI </a:t>
            </a:r>
            <a:r>
              <a:rPr lang="ko-KR" altLang="en-US" b="1"/>
              <a:t>기반 제어를 선행 검증</a:t>
            </a:r>
            <a:endParaRPr lang="ko-KR" altLang="en-US"/>
          </a:p>
          <a:p>
            <a:r>
              <a:rPr lang="ko-KR" altLang="en-US"/>
              <a:t>👉 이 문장 하나로</a:t>
            </a:r>
            <a:br>
              <a:rPr lang="ko-KR" altLang="en-US"/>
            </a:br>
            <a:r>
              <a:rPr lang="ko-KR" altLang="en-US"/>
              <a:t>**“왜 이렇게 설계했는지” </a:t>
            </a:r>
            <a:r>
              <a:rPr lang="en-US" altLang="ko-KR"/>
              <a:t>+ “</a:t>
            </a:r>
            <a:r>
              <a:rPr lang="ko-KR" altLang="en-US"/>
              <a:t>과제 이해도”**가 동시에 전달됨</a:t>
            </a:r>
          </a:p>
          <a:p>
            <a:r>
              <a:rPr lang="ko-KR" altLang="en-US" b="1"/>
              <a:t>🔎 발표용 한 줄 멘트</a:t>
            </a:r>
          </a:p>
          <a:p>
            <a:r>
              <a:rPr lang="ko-KR" altLang="en-US"/>
              <a:t>“본 시스템은 </a:t>
            </a:r>
            <a:r>
              <a:rPr lang="en-US" altLang="ko-KR"/>
              <a:t>PyQt5 </a:t>
            </a:r>
            <a:r>
              <a:rPr lang="ko-KR" altLang="en-US"/>
              <a:t>기반 </a:t>
            </a:r>
            <a:r>
              <a:rPr lang="en-US" altLang="ko-KR"/>
              <a:t>GUI, MoveIt2 </a:t>
            </a:r>
            <a:r>
              <a:rPr lang="ko-KR" altLang="en-US"/>
              <a:t>모션 플래너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/>
              <a:t>Doosan E0509 </a:t>
            </a:r>
            <a:r>
              <a:rPr lang="ko-KR" altLang="en-US"/>
              <a:t>로봇으로 구성되며</a:t>
            </a:r>
            <a:r>
              <a:rPr lang="en-US" altLang="ko-KR"/>
              <a:t>, GUI</a:t>
            </a:r>
            <a:r>
              <a:rPr lang="ko-KR" altLang="en-US"/>
              <a:t>는 </a:t>
            </a:r>
            <a:r>
              <a:rPr lang="en-US" altLang="ko-KR"/>
              <a:t>MoveIt</a:t>
            </a:r>
            <a:r>
              <a:rPr lang="ko-KR" altLang="en-US"/>
              <a:t>을 통해 로봇을 간접 제어합니다</a:t>
            </a:r>
            <a:r>
              <a:rPr lang="en-US" altLang="ko-KR"/>
              <a:t>.”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8147-D804-417E-AD2F-FBC060FE286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206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설계 의도 </a:t>
            </a:r>
            <a:r>
              <a:rPr lang="en-US" altLang="ko-KR" b="1"/>
              <a:t>(</a:t>
            </a:r>
            <a:r>
              <a:rPr lang="ko-KR" altLang="en-US" b="1"/>
              <a:t>강조 문구</a:t>
            </a:r>
            <a:r>
              <a:rPr lang="en-US" altLang="ko-KR" b="1"/>
              <a:t>)</a:t>
            </a:r>
          </a:p>
          <a:p>
            <a:r>
              <a:rPr lang="ko-KR" altLang="en-US"/>
              <a:t>로봇 드라이버 및 </a:t>
            </a:r>
            <a:r>
              <a:rPr lang="en-US" altLang="ko-KR"/>
              <a:t>MoveIt </a:t>
            </a:r>
            <a:r>
              <a:rPr lang="ko-KR" altLang="en-US"/>
              <a:t>설정 패키지와</a:t>
            </a:r>
            <a:br>
              <a:rPr lang="ko-KR" altLang="en-US"/>
            </a:br>
            <a:r>
              <a:rPr lang="ko-KR" altLang="en-US"/>
              <a:t>사용자 제어 패키지를 분리하여 구성함으로써</a:t>
            </a:r>
            <a:br>
              <a:rPr lang="ko-KR" altLang="en-US"/>
            </a:br>
            <a:r>
              <a:rPr lang="ko-KR" altLang="en-US"/>
              <a:t>시스템의 유지보수성과 재현성을 확보하였다</a:t>
            </a:r>
            <a:r>
              <a:rPr lang="en-US" altLang="ko-KR"/>
              <a:t>.</a:t>
            </a:r>
          </a:p>
          <a:p>
            <a:r>
              <a:rPr lang="ko-KR" altLang="en-US" b="1"/>
              <a:t>🔎 발표용 한 줄 멘트</a:t>
            </a:r>
          </a:p>
          <a:p>
            <a:r>
              <a:rPr lang="ko-KR" altLang="en-US"/>
              <a:t>“외부 로봇 패키지와 사용자 제어 패키지를 분리하여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제어 로직을 독립적으로 개발하고 실행할 수 있도록 구성했습니다</a:t>
            </a:r>
            <a:r>
              <a:rPr lang="en-US" altLang="ko-KR"/>
              <a:t>.”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8147-D804-417E-AD2F-FBC060FE28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534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실행 시 유의사항 </a:t>
            </a:r>
            <a:r>
              <a:rPr lang="en-US" altLang="ko-KR" b="1"/>
              <a:t>(</a:t>
            </a:r>
            <a:r>
              <a:rPr lang="ko-KR" altLang="en-US" b="1"/>
              <a:t>간단</a:t>
            </a:r>
            <a:r>
              <a:rPr lang="en-US" altLang="ko-KR" b="1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두 명령어는 </a:t>
            </a:r>
            <a:r>
              <a:rPr lang="ko-KR" altLang="en-US" b="1"/>
              <a:t>서로 다른 터미널에서 실행</a:t>
            </a:r>
            <a:endParaRPr lang="ko-KR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ROS2 </a:t>
            </a:r>
            <a:r>
              <a:rPr lang="ko-KR" altLang="en-US"/>
              <a:t>워크스페이스가 </a:t>
            </a:r>
            <a:r>
              <a:rPr lang="en-US" altLang="ko-KR"/>
              <a:t>source </a:t>
            </a:r>
            <a:r>
              <a:rPr lang="ko-KR" altLang="en-US"/>
              <a:t>된 상태에서 실행</a:t>
            </a:r>
          </a:p>
          <a:p>
            <a:r>
              <a:rPr lang="ko-KR" altLang="en-US" b="1"/>
              <a:t>🔎 발표용 한 줄 멘트</a:t>
            </a:r>
          </a:p>
          <a:p>
            <a:r>
              <a:rPr lang="ko-KR" altLang="en-US"/>
              <a:t>“</a:t>
            </a:r>
            <a:r>
              <a:rPr lang="en-US" altLang="ko-KR"/>
              <a:t>MoveIt </a:t>
            </a:r>
            <a:r>
              <a:rPr lang="ko-KR" altLang="en-US"/>
              <a:t>및 로봇 환경을 먼저 </a:t>
            </a:r>
            <a:r>
              <a:rPr lang="en-US" altLang="ko-KR"/>
              <a:t>launch</a:t>
            </a:r>
            <a:r>
              <a:rPr lang="ko-KR" altLang="en-US"/>
              <a:t>로 실행한 뒤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사용자 제어 </a:t>
            </a:r>
            <a:r>
              <a:rPr lang="en-US" altLang="ko-KR"/>
              <a:t>GUI </a:t>
            </a:r>
            <a:r>
              <a:rPr lang="ko-KR" altLang="en-US"/>
              <a:t>노드를 </a:t>
            </a:r>
            <a:r>
              <a:rPr lang="en-US" altLang="ko-KR"/>
              <a:t>run </a:t>
            </a:r>
            <a:r>
              <a:rPr lang="ko-KR" altLang="en-US"/>
              <a:t>명령으로 실행합니다</a:t>
            </a:r>
            <a:r>
              <a:rPr lang="en-US" altLang="ko-KR"/>
              <a:t>.”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8147-D804-417E-AD2F-FBC060FE286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440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8147-D804-417E-AD2F-FBC060FE28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427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214B5-68FA-4B06-85E9-066ADBF96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C14F70-79B9-4804-A354-A4FC59AF6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F53BA7-320B-4B2E-9647-2C549153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5037FB-3F38-4BC2-9297-B047F704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026579-7E47-4DF0-A573-2088300C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78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A8CCB-E46E-4E79-B450-BDB4ED394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0EF4C4-5562-4DF9-A7DA-4847B68D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998C11-A2F8-4085-BBFF-864E9F957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35A934-4419-4E9E-9BD9-6F3C8464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29453E-8381-466F-8FEE-C65B81D65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06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DBD2F-5C6F-4F20-BCDC-912F80B9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1E127D-B322-438A-993E-B110F2A94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B75F0B-089A-41B3-86BE-AE6659C0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CD2A52-F63B-4CF5-B1BB-BD84E259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FD790-8510-4653-BE85-89CC809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64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5C668-269C-47A1-8C21-16875EBD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F8BBA-1E91-44C4-9515-A2A9BF4E7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A01632-64A5-445E-AB4F-CB4BD93B4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341F35-D561-4B8B-8654-73BF1615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8E9D56-115E-4C1E-B591-1D892C92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185D44-2D8C-4346-95CA-F6B595FE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92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1C983-3F32-41CC-9506-5B125B054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AAE1CD-18E1-41B2-9BE3-AC475588A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853832-430D-4AC3-B434-F9BC5F1FA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3D3413-83B6-42C3-B9E3-A3212968E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8B840C-A6A9-441D-B07F-CF0FA911C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8FFDFD-544D-4701-AEC8-044AF41C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7CCBA88-F2A3-4231-8103-FE323D28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651190-8315-47EA-9CFE-7B152BBC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37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3380E-59A6-4390-9DB5-B45B123A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44489F-4FB9-4AC7-97A5-071F2E1FD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32EB64-3913-4CA2-9906-2D602DBD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84FEF8-386C-47D0-846F-335D6A43C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179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3AB746-DD75-4A1D-A295-6C263A41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95DBB0-825B-480B-AC1B-4B12E1CC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C1B123-3A7F-4993-907A-F7F6F335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27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C5396-9DFF-42D3-A686-F26DCF12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4CC52C-B1BC-4663-9434-C644EB7BE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C5BE8E-F186-4EDE-B704-1950B11F1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83C488-4F2D-463C-A45E-7F69F86C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4E7327-4275-4FDB-B9CB-C6AD9CE9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3AE8FA-FD4E-42A8-A239-570CCEED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02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64ADC-F412-48B5-8B47-F430CC07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92479A-B370-4134-8521-277F5DE08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841290-CB8D-4403-B221-442D88EE9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B0374F-F9F6-46B2-9887-460675623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173586-7596-4D76-BB2C-1ED29257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5BBD0-E834-4B31-B246-7C3B45A7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268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9FF42-26BA-4A8D-B10D-AB1339A13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508FD9-4336-49F6-AD52-5F25AAF39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8660A5-0699-4A37-9D32-2D36FE8D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9C103-BC9D-42F0-AD09-0860B032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254DE5-CE55-4184-837E-A06D2CF7A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90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3C379F-5D68-49A0-9D8F-6F2324D68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4A8440-3BBB-432C-BC8F-17EDDED0F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9E39C-188F-4BE1-9FBF-8988B04A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341F7A-F437-414D-88DA-69F24F2E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6943E-7AFA-46BA-BC23-98356787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85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B31497-F551-4149-97D6-C5E0ABFF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134027-2B8A-415E-B1CA-88ED440DA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2DE88-DEEA-4A25-ADE7-F263F2C5A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D585A-39C1-49B1-AC45-59BC23597A1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025BB-CD0D-487F-A29E-080CA9385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1AA59-181E-4CA7-A17F-321221699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CA687-CD31-498B-8B0D-FE1DF6971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0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F83F7-88EE-4586-ACE2-6A2E62F3F2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/>
              <a:t>ROS2</a:t>
            </a:r>
            <a:r>
              <a:rPr lang="ko-KR" altLang="en-US" b="1"/>
              <a:t>를 이용한 로봇암 </a:t>
            </a:r>
            <a:br>
              <a:rPr lang="en-US" altLang="ko-KR" b="1"/>
            </a:br>
            <a:r>
              <a:rPr lang="ko-KR" altLang="en-US" b="1"/>
              <a:t>시뮬레이션 제작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66F667-98F6-4C99-A453-AEC7DE8DF9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9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66613-2640-4B3D-A158-D97C6837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464"/>
            <a:ext cx="2540001" cy="485836"/>
          </a:xfrm>
        </p:spPr>
        <p:txBody>
          <a:bodyPr>
            <a:normAutofit/>
          </a:bodyPr>
          <a:lstStyle/>
          <a:p>
            <a:r>
              <a:rPr lang="ko-KR" altLang="en-US" sz="2400" b="1"/>
              <a:t>프로젝트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0DB44-B0EB-49CE-AA50-2D61052CAA38}"/>
              </a:ext>
            </a:extLst>
          </p:cNvPr>
          <p:cNvSpPr txBox="1"/>
          <p:nvPr/>
        </p:nvSpPr>
        <p:spPr>
          <a:xfrm>
            <a:off x="501162" y="773723"/>
            <a:ext cx="10691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프로젝트 목적</a:t>
            </a:r>
            <a:endParaRPr lang="en-US" altLang="ko-KR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ROS2 </a:t>
            </a:r>
            <a:r>
              <a:rPr lang="ko-KR" altLang="en-US"/>
              <a:t>환경에서 </a:t>
            </a:r>
            <a:r>
              <a:rPr lang="en-US" altLang="ko-KR"/>
              <a:t>Doosan E0509 </a:t>
            </a:r>
            <a:r>
              <a:rPr lang="ko-KR" altLang="en-US"/>
              <a:t>로봇암을 제어하는 시뮬레이션 시스템을 구현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사용자로부터 입력받은</a:t>
            </a:r>
            <a:r>
              <a:rPr lang="en-US" altLang="ko-KR"/>
              <a:t> </a:t>
            </a:r>
            <a:r>
              <a:rPr lang="ko-KR" altLang="en-US"/>
              <a:t>좌표</a:t>
            </a:r>
            <a:r>
              <a:rPr lang="en-US" altLang="ko-KR"/>
              <a:t>(x,y,z)</a:t>
            </a:r>
            <a:r>
              <a:rPr lang="ko-KR" altLang="en-US"/>
              <a:t>를 기반으로 로봇암의 말단</a:t>
            </a:r>
            <a:r>
              <a:rPr lang="en-US" altLang="ko-KR"/>
              <a:t>(End-Effector)</a:t>
            </a:r>
            <a:r>
              <a:rPr lang="ko-KR" altLang="en-US"/>
              <a:t>을 해당 위치로 이동</a:t>
            </a:r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FEB80D-7085-4F47-AD0A-7B2612E9C337}"/>
              </a:ext>
            </a:extLst>
          </p:cNvPr>
          <p:cNvSpPr txBox="1"/>
          <p:nvPr/>
        </p:nvSpPr>
        <p:spPr>
          <a:xfrm>
            <a:off x="501162" y="1870693"/>
            <a:ext cx="106914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구현 범위</a:t>
            </a:r>
            <a:endParaRPr lang="en-US" altLang="ko-KR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ROS2 </a:t>
            </a:r>
            <a:r>
              <a:rPr lang="ko-KR" altLang="en-US"/>
              <a:t>기반 로봇 제어 시스템 구성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MoveIt2</a:t>
            </a:r>
            <a:r>
              <a:rPr lang="ko-KR" altLang="en-US"/>
              <a:t>를 활용한 로봇암 경로 계획 및 실행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Python </a:t>
            </a:r>
            <a:r>
              <a:rPr lang="ko-KR" altLang="en-US"/>
              <a:t>언어를 이요한 제어 로직 및 </a:t>
            </a:r>
            <a:r>
              <a:rPr lang="en-US" altLang="ko-KR"/>
              <a:t>GUI </a:t>
            </a:r>
            <a:r>
              <a:rPr lang="ko-KR" altLang="en-US"/>
              <a:t>구현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PyQt5 </a:t>
            </a:r>
            <a:r>
              <a:rPr lang="ko-KR" altLang="en-US"/>
              <a:t>기반 사용자 인터페이스 제공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7AB94-1006-44F1-BEE3-B84CAD01AED8}"/>
              </a:ext>
            </a:extLst>
          </p:cNvPr>
          <p:cNvSpPr txBox="1"/>
          <p:nvPr/>
        </p:nvSpPr>
        <p:spPr>
          <a:xfrm>
            <a:off x="501162" y="3348021"/>
            <a:ext cx="10691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주요 기능</a:t>
            </a:r>
            <a:endParaRPr lang="en-US" altLang="ko-KR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하나 이상의 목표 좌표 입력 지원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절대좌표 </a:t>
            </a:r>
            <a:r>
              <a:rPr lang="en-US" altLang="ko-KR"/>
              <a:t>/ </a:t>
            </a:r>
            <a:r>
              <a:rPr lang="ko-KR" altLang="en-US"/>
              <a:t>상대 좌표 기준 선택 기능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로봇암 최대 이동 속도</a:t>
            </a:r>
            <a:r>
              <a:rPr lang="en-US" altLang="ko-KR"/>
              <a:t> </a:t>
            </a:r>
            <a:r>
              <a:rPr lang="ko-KR" altLang="en-US"/>
              <a:t>및 가속도 설정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입력된 조건을 반영하여 목표 지점 순차 이동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GUI</a:t>
            </a:r>
            <a:r>
              <a:rPr lang="ko-KR" altLang="en-US"/>
              <a:t>를 통한 로봇 상태 및 실행 로그 실시간 확인</a:t>
            </a:r>
            <a:endParaRPr lang="en-US" altLang="ko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D185FB-E009-4967-A5F0-951EE21D765B}"/>
              </a:ext>
            </a:extLst>
          </p:cNvPr>
          <p:cNvSpPr txBox="1"/>
          <p:nvPr/>
        </p:nvSpPr>
        <p:spPr>
          <a:xfrm>
            <a:off x="501162" y="5102347"/>
            <a:ext cx="46872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사용 기술</a:t>
            </a:r>
            <a:endParaRPr lang="en-US" altLang="ko-KR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ROS2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MoveIt2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Python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PyQt5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Doosan E0509 Robot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CDCE1A0-CDB8-4B9B-B654-0B47B709A102}"/>
              </a:ext>
            </a:extLst>
          </p:cNvPr>
          <p:cNvSpPr/>
          <p:nvPr/>
        </p:nvSpPr>
        <p:spPr>
          <a:xfrm>
            <a:off x="4655040" y="5309577"/>
            <a:ext cx="7435359" cy="11557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5CC9092-AC68-421D-84BB-C067E28E2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640" y="5669294"/>
            <a:ext cx="7257561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ROS2 + MoveIt + GUI 기반 로봇 제어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1731304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3AA7474-F6CF-4C98-AA21-01A38F4907E7}"/>
              </a:ext>
            </a:extLst>
          </p:cNvPr>
          <p:cNvSpPr/>
          <p:nvPr/>
        </p:nvSpPr>
        <p:spPr>
          <a:xfrm>
            <a:off x="71577" y="5950542"/>
            <a:ext cx="5791200" cy="825634"/>
          </a:xfrm>
          <a:prstGeom prst="roundRect">
            <a:avLst>
              <a:gd name="adj" fmla="val 7798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9E3F566-DC8C-4601-9A6D-38097E82131B}"/>
              </a:ext>
            </a:extLst>
          </p:cNvPr>
          <p:cNvSpPr/>
          <p:nvPr/>
        </p:nvSpPr>
        <p:spPr>
          <a:xfrm>
            <a:off x="5945261" y="5935393"/>
            <a:ext cx="6105245" cy="825634"/>
          </a:xfrm>
          <a:prstGeom prst="roundRect">
            <a:avLst>
              <a:gd name="adj" fmla="val 7798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1FA8527-38F9-41DC-8993-AAFB7C06D718}"/>
              </a:ext>
            </a:extLst>
          </p:cNvPr>
          <p:cNvSpPr/>
          <p:nvPr/>
        </p:nvSpPr>
        <p:spPr>
          <a:xfrm>
            <a:off x="7478583" y="1877711"/>
            <a:ext cx="4561018" cy="1284502"/>
          </a:xfrm>
          <a:prstGeom prst="roundRect">
            <a:avLst>
              <a:gd name="adj" fmla="val 7798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1AD79F2-2174-4265-9039-CA7452D4B15C}"/>
              </a:ext>
            </a:extLst>
          </p:cNvPr>
          <p:cNvSpPr/>
          <p:nvPr/>
        </p:nvSpPr>
        <p:spPr>
          <a:xfrm>
            <a:off x="6832897" y="42018"/>
            <a:ext cx="5206703" cy="1412952"/>
          </a:xfrm>
          <a:prstGeom prst="roundRect">
            <a:avLst>
              <a:gd name="adj" fmla="val 7798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466613-2640-4B3D-A158-D97C6837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464"/>
            <a:ext cx="2540001" cy="485836"/>
          </a:xfrm>
        </p:spPr>
        <p:txBody>
          <a:bodyPr>
            <a:normAutofit/>
          </a:bodyPr>
          <a:lstStyle/>
          <a:p>
            <a:r>
              <a:rPr lang="ko-KR" altLang="en-US" sz="2400" b="1"/>
              <a:t>시스템 구성도</a:t>
            </a:r>
          </a:p>
        </p:txBody>
      </p:sp>
      <p:pic>
        <p:nvPicPr>
          <p:cNvPr id="5122" name="Picture 2" descr="PyQt5 — Create Python GUIs with Python &amp; Qt5 (1)">
            <a:extLst>
              <a:ext uri="{FF2B5EF4-FFF2-40B4-BE49-F238E27FC236}">
                <a16:creationId xmlns:a16="http://schemas.microsoft.com/office/drawing/2014/main" id="{FF466B0D-B407-4C37-AD3C-3D5B74816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83" y="13329"/>
            <a:ext cx="3209834" cy="127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GitHub - moveit/moveit2: :robot: MoveIt for ROS 2">
            <a:extLst>
              <a:ext uri="{FF2B5EF4-FFF2-40B4-BE49-F238E27FC236}">
                <a16:creationId xmlns:a16="http://schemas.microsoft.com/office/drawing/2014/main" id="{570554E0-B534-4767-87E9-FB0C40DCE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070" y="2119912"/>
            <a:ext cx="4403296" cy="9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GitHub - ros-visualization/rviz: ROS 3D Robot Visualizer">
            <a:extLst>
              <a:ext uri="{FF2B5EF4-FFF2-40B4-BE49-F238E27FC236}">
                <a16:creationId xmlns:a16="http://schemas.microsoft.com/office/drawing/2014/main" id="{26699F98-5643-4879-A326-03AF19AB9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766" y="3804540"/>
            <a:ext cx="3087585" cy="200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0AD60B64-911A-43EC-8701-B6842E8D747D}"/>
              </a:ext>
            </a:extLst>
          </p:cNvPr>
          <p:cNvSpPr/>
          <p:nvPr/>
        </p:nvSpPr>
        <p:spPr>
          <a:xfrm>
            <a:off x="4540250" y="1230764"/>
            <a:ext cx="977900" cy="812229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5A434754-304D-431D-85AD-621D2E03A291}"/>
              </a:ext>
            </a:extLst>
          </p:cNvPr>
          <p:cNvSpPr/>
          <p:nvPr/>
        </p:nvSpPr>
        <p:spPr>
          <a:xfrm rot="2910383">
            <a:off x="4147220" y="3081070"/>
            <a:ext cx="977900" cy="812229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F56E4FD6-979F-4422-9E65-9319D52162CB}"/>
              </a:ext>
            </a:extLst>
          </p:cNvPr>
          <p:cNvSpPr/>
          <p:nvPr/>
        </p:nvSpPr>
        <p:spPr>
          <a:xfrm rot="19119861">
            <a:off x="6100436" y="3081070"/>
            <a:ext cx="977900" cy="812229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7CB4B-BCC6-47F7-B51D-26B57B795404}"/>
              </a:ext>
            </a:extLst>
          </p:cNvPr>
          <p:cNvSpPr txBox="1"/>
          <p:nvPr/>
        </p:nvSpPr>
        <p:spPr>
          <a:xfrm>
            <a:off x="6976681" y="-15929"/>
            <a:ext cx="4292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목표 좌표</a:t>
            </a:r>
            <a:r>
              <a:rPr lang="en-US" altLang="ko-KR"/>
              <a:t>(x,y,z) </a:t>
            </a:r>
            <a:r>
              <a:rPr lang="ko-KR" altLang="en-US"/>
              <a:t>입력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절대</a:t>
            </a:r>
            <a:r>
              <a:rPr lang="en-US" altLang="ko-KR"/>
              <a:t>/</a:t>
            </a:r>
            <a:r>
              <a:rPr lang="ko-KR" altLang="en-US"/>
              <a:t>상대 좌표 기준 선택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속도 및 가속도 값 입력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실행 버튼을 통해 로봇 제어 요청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로봇 상태 및 실시간 로그 출력</a:t>
            </a:r>
            <a:endParaRPr lang="en-US" altLang="ko-K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0F1E1F-1BAA-4524-9E2F-06302DF6F76E}"/>
              </a:ext>
            </a:extLst>
          </p:cNvPr>
          <p:cNvSpPr txBox="1"/>
          <p:nvPr/>
        </p:nvSpPr>
        <p:spPr>
          <a:xfrm>
            <a:off x="7478582" y="1960983"/>
            <a:ext cx="4789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입력된 목표 좌표를 기반으로 경로 계획 수행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로봇의 관절 제한 및 속도 조건 반영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계획된 경로를 로봇으로 전달하여 실행</a:t>
            </a:r>
            <a:endParaRPr lang="en-US" altLang="ko-K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CE297C-34FF-4D49-9A8B-9C74D7D954FC}"/>
              </a:ext>
            </a:extLst>
          </p:cNvPr>
          <p:cNvSpPr txBox="1"/>
          <p:nvPr/>
        </p:nvSpPr>
        <p:spPr>
          <a:xfrm>
            <a:off x="6001629" y="6074303"/>
            <a:ext cx="6105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MoveIt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에서 생성된 </a:t>
            </a: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trajectory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를 </a:t>
            </a: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doosan-robot2 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컨트롤러를 통해 로봇에 전달</a:t>
            </a:r>
            <a:endParaRPr lang="en-US" altLang="ko-KR"/>
          </a:p>
        </p:txBody>
      </p:sp>
      <p:pic>
        <p:nvPicPr>
          <p:cNvPr id="5130" name="Picture 10" descr="E0509 : 제품 : 제품 &amp; 솔루션 : 두산로보틱스">
            <a:extLst>
              <a:ext uri="{FF2B5EF4-FFF2-40B4-BE49-F238E27FC236}">
                <a16:creationId xmlns:a16="http://schemas.microsoft.com/office/drawing/2014/main" id="{53CBF2DF-3848-412E-9814-F4D83719D0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7"/>
          <a:stretch/>
        </p:blipFill>
        <p:spPr bwMode="auto">
          <a:xfrm>
            <a:off x="7659981" y="3748907"/>
            <a:ext cx="2540001" cy="200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5EB0D0E-D84F-40AC-9023-1E0C0BFD4FDC}"/>
              </a:ext>
            </a:extLst>
          </p:cNvPr>
          <p:cNvSpPr txBox="1"/>
          <p:nvPr/>
        </p:nvSpPr>
        <p:spPr>
          <a:xfrm>
            <a:off x="16250" y="5935804"/>
            <a:ext cx="6105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Rviz</a:t>
            </a:r>
            <a:r>
              <a:rPr lang="ko-KR" altLang="en-US"/>
              <a:t>를 통해 로봇 상태</a:t>
            </a:r>
            <a:r>
              <a:rPr lang="en-US" altLang="ko-KR"/>
              <a:t>, </a:t>
            </a:r>
            <a:r>
              <a:rPr lang="ko-KR" altLang="en-US"/>
              <a:t>경로 계획 결과 및 실행 상태</a:t>
            </a:r>
            <a:br>
              <a:rPr lang="en-US" altLang="ko-KR"/>
            </a:br>
            <a:r>
              <a:rPr lang="ko-KR" altLang="en-US"/>
              <a:t>실시간으로 시각화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경로 계획 단계에서 시뮬레이션 기반 검증 수행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674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66613-2640-4B3D-A158-D97C6837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464"/>
            <a:ext cx="2540001" cy="485836"/>
          </a:xfrm>
        </p:spPr>
        <p:txBody>
          <a:bodyPr>
            <a:normAutofit/>
          </a:bodyPr>
          <a:lstStyle/>
          <a:p>
            <a:r>
              <a:rPr lang="ko-KR" altLang="en-US" sz="2400" b="1"/>
              <a:t>디렉토리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0DB44-B0EB-49CE-AA50-2D61052CAA38}"/>
              </a:ext>
            </a:extLst>
          </p:cNvPr>
          <p:cNvSpPr txBox="1"/>
          <p:nvPr/>
        </p:nvSpPr>
        <p:spPr>
          <a:xfrm>
            <a:off x="501162" y="773723"/>
            <a:ext cx="443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ROS2</a:t>
            </a:r>
            <a:r>
              <a:rPr lang="ko-KR" altLang="en-US"/>
              <a:t> </a:t>
            </a:r>
            <a:r>
              <a:rPr lang="en-US" altLang="ko-KR"/>
              <a:t>Workspace </a:t>
            </a:r>
            <a:r>
              <a:rPr lang="ko-KR" altLang="en-US"/>
              <a:t>구조</a:t>
            </a:r>
            <a:endParaRPr lang="en-US" altLang="ko-KR"/>
          </a:p>
          <a:p>
            <a:pPr lvl="1"/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78B0C6-5B2B-4CB4-BA74-7ED38BC92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101" y="3408769"/>
            <a:ext cx="4267796" cy="26959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79D87E5-FF07-43F0-B315-AE48E64C4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101" y="1223180"/>
            <a:ext cx="3472835" cy="9505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F78416-3B36-49E3-9A6E-CA7086A7CAFC}"/>
              </a:ext>
            </a:extLst>
          </p:cNvPr>
          <p:cNvSpPr txBox="1"/>
          <p:nvPr/>
        </p:nvSpPr>
        <p:spPr>
          <a:xfrm>
            <a:off x="501162" y="2774161"/>
            <a:ext cx="443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e0509_control </a:t>
            </a:r>
            <a:r>
              <a:rPr lang="ko-KR" altLang="en-US"/>
              <a:t>상세 구조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C479EC-3333-4EA5-977C-790236998320}"/>
              </a:ext>
            </a:extLst>
          </p:cNvPr>
          <p:cNvSpPr/>
          <p:nvPr/>
        </p:nvSpPr>
        <p:spPr>
          <a:xfrm>
            <a:off x="5435897" y="426734"/>
            <a:ext cx="6651447" cy="2291065"/>
          </a:xfrm>
          <a:prstGeom prst="roundRect">
            <a:avLst>
              <a:gd name="adj" fmla="val 7798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C6D2D-53E5-4A08-89D5-2BD386E53496}"/>
              </a:ext>
            </a:extLst>
          </p:cNvPr>
          <p:cNvSpPr txBox="1"/>
          <p:nvPr/>
        </p:nvSpPr>
        <p:spPr>
          <a:xfrm>
            <a:off x="5524500" y="423157"/>
            <a:ext cx="5536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doosan-robot2 </a:t>
            </a:r>
            <a:r>
              <a:rPr lang="ko-KR" altLang="en-US" b="1"/>
              <a:t>패키지</a:t>
            </a:r>
            <a:endParaRPr lang="en-US" altLang="ko-KR" b="1"/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ko-KR" altLang="en-US"/>
              <a:t> </a:t>
            </a:r>
            <a:r>
              <a:rPr lang="en-US" altLang="ko-KR"/>
              <a:t>Doosan E0509 </a:t>
            </a:r>
            <a:r>
              <a:rPr lang="ko-KR" altLang="en-US"/>
              <a:t>로봇 관련 패키지 모음</a:t>
            </a:r>
            <a:endParaRPr lang="en-US" altLang="ko-KR"/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ko-KR" altLang="en-US"/>
              <a:t> 로봇 </a:t>
            </a:r>
            <a:r>
              <a:rPr lang="en-US" altLang="ko-KR"/>
              <a:t>description, MoveIt </a:t>
            </a:r>
            <a:r>
              <a:rPr lang="ko-KR" altLang="en-US"/>
              <a:t>설정</a:t>
            </a:r>
            <a:r>
              <a:rPr lang="en-US" altLang="ko-KR"/>
              <a:t>, </a:t>
            </a:r>
            <a:r>
              <a:rPr lang="ko-KR" altLang="en-US"/>
              <a:t>컨트롤러 포함</a:t>
            </a:r>
            <a:endParaRPr lang="en-US" altLang="ko-KR"/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altLang="ko-KR"/>
              <a:t> </a:t>
            </a:r>
            <a:r>
              <a:rPr lang="ko-KR" altLang="en-US"/>
              <a:t>로봇 시뮬레이션 및 </a:t>
            </a:r>
            <a:r>
              <a:rPr lang="en-US" altLang="ko-KR"/>
              <a:t>Motion Planning </a:t>
            </a:r>
            <a:r>
              <a:rPr lang="ko-KR" altLang="en-US"/>
              <a:t>환경 제공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3BEDD-E04C-4188-8373-C7BBA3A38124}"/>
              </a:ext>
            </a:extLst>
          </p:cNvPr>
          <p:cNvSpPr txBox="1"/>
          <p:nvPr/>
        </p:nvSpPr>
        <p:spPr>
          <a:xfrm>
            <a:off x="5524500" y="1540680"/>
            <a:ext cx="65628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e0509_control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ko-KR" altLang="en-US"/>
              <a:t> 사용자 제어 및 </a:t>
            </a:r>
            <a:r>
              <a:rPr lang="en-US" altLang="ko-KR"/>
              <a:t>GUI </a:t>
            </a:r>
            <a:r>
              <a:rPr lang="ko-KR" altLang="en-US"/>
              <a:t>구현을 위한 </a:t>
            </a:r>
            <a:r>
              <a:rPr lang="en-US" altLang="ko-KR"/>
              <a:t>ROS2 Python </a:t>
            </a:r>
            <a:r>
              <a:rPr lang="ko-KR" altLang="en-US"/>
              <a:t>패키지</a:t>
            </a:r>
            <a:endParaRPr lang="en-US" altLang="ko-KR"/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ko-KR" altLang="en-US"/>
              <a:t> 목표 좌표 입력</a:t>
            </a:r>
            <a:r>
              <a:rPr lang="en-US" altLang="ko-KR"/>
              <a:t>, </a:t>
            </a:r>
            <a:r>
              <a:rPr lang="ko-KR" altLang="en-US"/>
              <a:t>속도</a:t>
            </a:r>
            <a:r>
              <a:rPr lang="en-US" altLang="ko-KR"/>
              <a:t>/</a:t>
            </a:r>
            <a:r>
              <a:rPr lang="ko-KR" altLang="en-US"/>
              <a:t>가속도 설정 기능 포함</a:t>
            </a:r>
            <a:endParaRPr lang="en-US" altLang="ko-KR"/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altLang="ko-KR"/>
              <a:t> MoveIt</a:t>
            </a:r>
            <a:r>
              <a:rPr lang="ko-KR" altLang="en-US"/>
              <a:t>을 통한 로봇 제어 로직 구현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D695F5-0422-443D-BC1B-0B8C4B774700}"/>
              </a:ext>
            </a:extLst>
          </p:cNvPr>
          <p:cNvSpPr txBox="1"/>
          <p:nvPr/>
        </p:nvSpPr>
        <p:spPr>
          <a:xfrm>
            <a:off x="-1" y="6286219"/>
            <a:ext cx="12023844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200" b="1"/>
              <a:t>python </a:t>
            </a:r>
            <a:r>
              <a:rPr lang="ko-KR" altLang="en-US" sz="2200" b="1"/>
              <a:t>기반 </a:t>
            </a:r>
            <a:r>
              <a:rPr lang="en-US" altLang="ko-KR" sz="2200" b="1"/>
              <a:t>ROS2 </a:t>
            </a:r>
            <a:r>
              <a:rPr lang="ko-KR" altLang="en-US" sz="2200" b="1"/>
              <a:t>패키지 구조를 따르며</a:t>
            </a:r>
            <a:r>
              <a:rPr lang="en-US" altLang="ko-KR" sz="2200" b="1"/>
              <a:t>, ros2 </a:t>
            </a:r>
            <a:r>
              <a:rPr lang="ko-KR" altLang="en-US" sz="2200" b="1"/>
              <a:t>명령을 통해 노드를 실행할 수 있도록 구성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93C3C85-8DEC-41C1-B40E-F7B0D057F636}"/>
              </a:ext>
            </a:extLst>
          </p:cNvPr>
          <p:cNvSpPr/>
          <p:nvPr/>
        </p:nvSpPr>
        <p:spPr>
          <a:xfrm>
            <a:off x="5540553" y="3333297"/>
            <a:ext cx="6651447" cy="2695951"/>
          </a:xfrm>
          <a:prstGeom prst="roundRect">
            <a:avLst>
              <a:gd name="adj" fmla="val 42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E960BC-65EE-4B3F-B291-F0EE985276E5}"/>
              </a:ext>
            </a:extLst>
          </p:cNvPr>
          <p:cNvSpPr txBox="1"/>
          <p:nvPr/>
        </p:nvSpPr>
        <p:spPr>
          <a:xfrm>
            <a:off x="5629156" y="5050599"/>
            <a:ext cx="6562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setup.py / setup.cfg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ko-KR" altLang="en-US"/>
              <a:t> </a:t>
            </a:r>
            <a:r>
              <a:rPr lang="en-US" altLang="ko-KR"/>
              <a:t>ros2 run </a:t>
            </a:r>
            <a:r>
              <a:rPr lang="ko-KR" altLang="en-US"/>
              <a:t>명령으로 </a:t>
            </a:r>
            <a:r>
              <a:rPr lang="en-US" altLang="ko-KR"/>
              <a:t>python </a:t>
            </a:r>
            <a:r>
              <a:rPr lang="ko-KR" altLang="en-US"/>
              <a:t>노드를 실행하기 위한 진입점 설정</a:t>
            </a:r>
            <a:endParaRPr lang="en-US" altLang="ko-K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F536C3-37A9-434A-8254-8FC54E03A42C}"/>
              </a:ext>
            </a:extLst>
          </p:cNvPr>
          <p:cNvSpPr txBox="1"/>
          <p:nvPr/>
        </p:nvSpPr>
        <p:spPr>
          <a:xfrm>
            <a:off x="5629156" y="4483128"/>
            <a:ext cx="6562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package.xml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ko-KR" altLang="en-US"/>
              <a:t> 패키지 의존성 및 </a:t>
            </a:r>
            <a:r>
              <a:rPr lang="en-US" altLang="ko-KR"/>
              <a:t>ROS2 </a:t>
            </a:r>
            <a:r>
              <a:rPr lang="ko-KR" altLang="en-US"/>
              <a:t>빌드 정보를 정의</a:t>
            </a:r>
            <a:endParaRPr lang="en-US" altLang="ko-K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3F113C-558E-4CDC-B430-FBD805AD0451}"/>
              </a:ext>
            </a:extLst>
          </p:cNvPr>
          <p:cNvSpPr txBox="1"/>
          <p:nvPr/>
        </p:nvSpPr>
        <p:spPr>
          <a:xfrm>
            <a:off x="5629156" y="3944685"/>
            <a:ext cx="6562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moveit_controller.py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ko-KR" altLang="en-US"/>
              <a:t> </a:t>
            </a:r>
            <a:r>
              <a:rPr lang="en-US" altLang="ko-KR"/>
              <a:t>MoveIt2</a:t>
            </a:r>
            <a:r>
              <a:rPr lang="ko-KR" altLang="en-US"/>
              <a:t>를 이요한 로봇 제어 및 경로 실행 로직</a:t>
            </a:r>
            <a:endParaRPr lang="en-US" altLang="ko-K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31AB30-257C-44E2-BA94-59DEEA87E15A}"/>
              </a:ext>
            </a:extLst>
          </p:cNvPr>
          <p:cNvSpPr txBox="1"/>
          <p:nvPr/>
        </p:nvSpPr>
        <p:spPr>
          <a:xfrm>
            <a:off x="5629156" y="3373262"/>
            <a:ext cx="5536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gui_app.py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ko-KR" altLang="en-US"/>
              <a:t> </a:t>
            </a:r>
            <a:r>
              <a:rPr lang="en-US" altLang="ko-KR"/>
              <a:t>PyQt5 </a:t>
            </a:r>
            <a:r>
              <a:rPr lang="ko-KR" altLang="en-US"/>
              <a:t>기반 </a:t>
            </a:r>
            <a:r>
              <a:rPr lang="en-US" altLang="ko-KR"/>
              <a:t>GUI </a:t>
            </a:r>
            <a:r>
              <a:rPr lang="ko-KR" altLang="en-US"/>
              <a:t>및 사용자 입력 처리</a:t>
            </a:r>
          </a:p>
        </p:txBody>
      </p:sp>
    </p:spTree>
    <p:extLst>
      <p:ext uri="{BB962C8B-B14F-4D97-AF65-F5344CB8AC3E}">
        <p14:creationId xmlns:p14="http://schemas.microsoft.com/office/powerpoint/2010/main" val="32153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66613-2640-4B3D-A158-D97C6837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540001" cy="485836"/>
          </a:xfrm>
        </p:spPr>
        <p:txBody>
          <a:bodyPr>
            <a:normAutofit/>
          </a:bodyPr>
          <a:lstStyle/>
          <a:p>
            <a:r>
              <a:rPr lang="ko-KR" altLang="en-US" sz="2400" b="1"/>
              <a:t>실행 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0DB44-B0EB-49CE-AA50-2D61052CAA38}"/>
              </a:ext>
            </a:extLst>
          </p:cNvPr>
          <p:cNvSpPr txBox="1"/>
          <p:nvPr/>
        </p:nvSpPr>
        <p:spPr>
          <a:xfrm>
            <a:off x="501162" y="647993"/>
            <a:ext cx="10691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 </a:t>
            </a:r>
            <a:r>
              <a:rPr lang="ko-KR" altLang="en-US"/>
              <a:t>두개의 터미널로 나뉘어</a:t>
            </a:r>
            <a:r>
              <a:rPr lang="en-US" altLang="ko-KR"/>
              <a:t> </a:t>
            </a:r>
            <a:r>
              <a:rPr lang="ko-KR" altLang="en-US"/>
              <a:t>하나는 로봇 환경 실행</a:t>
            </a:r>
            <a:r>
              <a:rPr lang="en-US" altLang="ko-KR"/>
              <a:t>, </a:t>
            </a:r>
            <a:r>
              <a:rPr lang="ko-KR" altLang="en-US"/>
              <a:t>다른 하나는 </a:t>
            </a:r>
            <a:r>
              <a:rPr lang="en-US" altLang="ko-KR"/>
              <a:t>GUI </a:t>
            </a:r>
            <a:r>
              <a:rPr lang="ko-KR" altLang="en-US"/>
              <a:t>기반 제어 노드 실행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 ROS2 workspace</a:t>
            </a:r>
            <a:r>
              <a:rPr lang="ko-KR" altLang="en-US"/>
              <a:t>가 </a:t>
            </a:r>
            <a:r>
              <a:rPr lang="en-US" altLang="ko-KR"/>
              <a:t>source</a:t>
            </a:r>
            <a:r>
              <a:rPr lang="ko-KR" altLang="en-US"/>
              <a:t>된 상태에서 실행</a:t>
            </a:r>
            <a:endParaRPr lang="en-US" altLang="ko-KR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09204C-85C2-441A-8B74-0B39C264A81E}"/>
              </a:ext>
            </a:extLst>
          </p:cNvPr>
          <p:cNvSpPr/>
          <p:nvPr/>
        </p:nvSpPr>
        <p:spPr>
          <a:xfrm>
            <a:off x="486977" y="1392021"/>
            <a:ext cx="5416868" cy="6463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MoveIt </a:t>
            </a:r>
            <a:r>
              <a:rPr lang="ko-KR" altLang="en-US" b="1">
                <a:solidFill>
                  <a:schemeClr val="tx1"/>
                </a:solidFill>
              </a:rPr>
              <a:t>및 로봇 환경 실행</a:t>
            </a:r>
            <a:endParaRPr lang="en-US" altLang="ko-KR" b="1">
              <a:solidFill>
                <a:schemeClr val="tx1"/>
              </a:solidFill>
            </a:endParaRPr>
          </a:p>
          <a:p>
            <a:pPr algn="ctr"/>
            <a:r>
              <a:rPr lang="en-US" altLang="ko-KR" sz="1400">
                <a:solidFill>
                  <a:schemeClr val="tx1"/>
                </a:solidFill>
              </a:rPr>
              <a:t>(ros2 launch dsr_moveit_config_e0509 demo.launch.py)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15E214-4BBA-4D7A-BD4E-81E73DE10861}"/>
              </a:ext>
            </a:extLst>
          </p:cNvPr>
          <p:cNvSpPr/>
          <p:nvPr/>
        </p:nvSpPr>
        <p:spPr>
          <a:xfrm>
            <a:off x="6322624" y="1392021"/>
            <a:ext cx="5416868" cy="6463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GUI </a:t>
            </a:r>
            <a:r>
              <a:rPr lang="ko-KR" altLang="en-US" b="1">
                <a:solidFill>
                  <a:schemeClr val="tx1"/>
                </a:solidFill>
              </a:rPr>
              <a:t>기반 제어 노드 실행</a:t>
            </a:r>
            <a:endParaRPr lang="en-US" altLang="ko-KR" b="1">
              <a:solidFill>
                <a:schemeClr val="tx1"/>
              </a:solidFill>
            </a:endParaRPr>
          </a:p>
          <a:p>
            <a:pPr algn="ctr"/>
            <a:r>
              <a:rPr lang="en-US" altLang="ko-KR" sz="1400">
                <a:solidFill>
                  <a:schemeClr val="tx1"/>
                </a:solidFill>
              </a:rPr>
              <a:t>(ros2 run e0509_control gui_app)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9A9A3D0-C8F0-471A-BC6D-DAFA9ECF6B2A}"/>
              </a:ext>
            </a:extLst>
          </p:cNvPr>
          <p:cNvGrpSpPr/>
          <p:nvPr/>
        </p:nvGrpSpPr>
        <p:grpSpPr>
          <a:xfrm>
            <a:off x="551733" y="5558957"/>
            <a:ext cx="5352112" cy="1138980"/>
            <a:chOff x="551733" y="4920331"/>
            <a:chExt cx="5352112" cy="113898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4FB4951-2FD9-4AD5-8A0C-91283D3B8210}"/>
                </a:ext>
              </a:extLst>
            </p:cNvPr>
            <p:cNvSpPr/>
            <p:nvPr/>
          </p:nvSpPr>
          <p:spPr>
            <a:xfrm>
              <a:off x="551733" y="4920331"/>
              <a:ext cx="5352112" cy="113898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2B6909-6B8F-4B83-B20D-3DC2983A2CCB}"/>
                </a:ext>
              </a:extLst>
            </p:cNvPr>
            <p:cNvSpPr txBox="1"/>
            <p:nvPr/>
          </p:nvSpPr>
          <p:spPr>
            <a:xfrm>
              <a:off x="551733" y="5066993"/>
              <a:ext cx="5352112" cy="923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/>
                <a:t>Doosan e0509 </a:t>
              </a:r>
              <a:r>
                <a:rPr lang="ko-KR" altLang="en-US"/>
                <a:t>로봇 모델 및 </a:t>
              </a:r>
              <a:r>
                <a:rPr lang="en-US" altLang="ko-KR"/>
                <a:t>MoveIt </a:t>
              </a:r>
              <a:r>
                <a:rPr lang="ko-KR" altLang="en-US"/>
                <a:t>환경 실행</a:t>
              </a:r>
              <a:endParaRPr lang="en-US" altLang="ko-KR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/>
                <a:t>로봇 컨트롤러와 </a:t>
              </a:r>
              <a:r>
                <a:rPr lang="en-US" altLang="ko-KR"/>
                <a:t>Rviz</a:t>
              </a:r>
              <a:r>
                <a:rPr lang="ko-KR" altLang="en-US"/>
                <a:t>를 포함한 시뮬레이션 환경 구성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E778881-E709-4AF4-B664-B869ADA943C5}"/>
              </a:ext>
            </a:extLst>
          </p:cNvPr>
          <p:cNvGrpSpPr/>
          <p:nvPr/>
        </p:nvGrpSpPr>
        <p:grpSpPr>
          <a:xfrm>
            <a:off x="6288157" y="5558957"/>
            <a:ext cx="5352112" cy="1138980"/>
            <a:chOff x="551733" y="4920331"/>
            <a:chExt cx="5352112" cy="113898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BCF170C6-ADAE-47AB-A809-69DDA00E99FC}"/>
                </a:ext>
              </a:extLst>
            </p:cNvPr>
            <p:cNvSpPr/>
            <p:nvPr/>
          </p:nvSpPr>
          <p:spPr>
            <a:xfrm>
              <a:off x="551733" y="4920331"/>
              <a:ext cx="5352112" cy="113898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771FDF-40AE-4B7A-A5C5-8B9153EE83D5}"/>
                </a:ext>
              </a:extLst>
            </p:cNvPr>
            <p:cNvSpPr txBox="1"/>
            <p:nvPr/>
          </p:nvSpPr>
          <p:spPr>
            <a:xfrm>
              <a:off x="551733" y="5066993"/>
              <a:ext cx="5352112" cy="923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/>
                <a:t>PyQt5 </a:t>
              </a:r>
              <a:r>
                <a:rPr lang="ko-KR" altLang="en-US"/>
                <a:t>기반 사용자 인터페이스 실행</a:t>
              </a:r>
              <a:endParaRPr lang="en-US" altLang="ko-KR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/>
                <a:t>목표 좌표</a:t>
              </a:r>
              <a:r>
                <a:rPr lang="en-US" altLang="ko-KR"/>
                <a:t>, </a:t>
              </a:r>
              <a:r>
                <a:rPr lang="ko-KR" altLang="en-US"/>
                <a:t>속도 및 가속도 입력 가능</a:t>
              </a:r>
              <a:endParaRPr lang="en-US" altLang="ko-KR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/>
                <a:t>MoveIt</a:t>
              </a:r>
              <a:r>
                <a:rPr lang="ko-KR" altLang="en-US"/>
                <a:t>과 통신하여 로봇 제어 명령 전달</a:t>
              </a:r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027B1B90-CAF4-4EEB-9656-1DB47BE98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834" y="2185012"/>
            <a:ext cx="3322448" cy="329200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32D01F0-5DDA-4148-A311-7F8C5B7FB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18" y="2270710"/>
            <a:ext cx="5292627" cy="298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49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66613-2640-4B3D-A158-D97C6837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540001" cy="485836"/>
          </a:xfrm>
        </p:spPr>
        <p:txBody>
          <a:bodyPr>
            <a:normAutofit/>
          </a:bodyPr>
          <a:lstStyle/>
          <a:p>
            <a:r>
              <a:rPr lang="ko-KR" altLang="en-US" sz="2400" b="1"/>
              <a:t>주요 기능 구현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27B1B90-CAF4-4EEB-9656-1DB47BE98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48" y="629078"/>
            <a:ext cx="5809138" cy="5755911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C0C7881-E5CF-49FA-8805-3299BEAE8165}"/>
              </a:ext>
            </a:extLst>
          </p:cNvPr>
          <p:cNvSpPr/>
          <p:nvPr/>
        </p:nvSpPr>
        <p:spPr>
          <a:xfrm>
            <a:off x="170748" y="989874"/>
            <a:ext cx="5809138" cy="497749"/>
          </a:xfrm>
          <a:prstGeom prst="roundRect">
            <a:avLst>
              <a:gd name="adj" fmla="val 1411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4185F93-C436-45DE-A469-D5E932197C6F}"/>
              </a:ext>
            </a:extLst>
          </p:cNvPr>
          <p:cNvSpPr/>
          <p:nvPr/>
        </p:nvSpPr>
        <p:spPr>
          <a:xfrm>
            <a:off x="152359" y="1535248"/>
            <a:ext cx="5809138" cy="1141277"/>
          </a:xfrm>
          <a:prstGeom prst="roundRect">
            <a:avLst>
              <a:gd name="adj" fmla="val 827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B5D771C-9A08-4F75-B5BF-2B15ABF26B21}"/>
              </a:ext>
            </a:extLst>
          </p:cNvPr>
          <p:cNvSpPr/>
          <p:nvPr/>
        </p:nvSpPr>
        <p:spPr>
          <a:xfrm>
            <a:off x="152359" y="2722494"/>
            <a:ext cx="5809138" cy="919375"/>
          </a:xfrm>
          <a:prstGeom prst="roundRect">
            <a:avLst>
              <a:gd name="adj" fmla="val 827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7885E5D-7B2B-4C4D-A2F6-28C1690A403F}"/>
              </a:ext>
            </a:extLst>
          </p:cNvPr>
          <p:cNvSpPr/>
          <p:nvPr/>
        </p:nvSpPr>
        <p:spPr>
          <a:xfrm>
            <a:off x="152359" y="3690049"/>
            <a:ext cx="5809138" cy="292941"/>
          </a:xfrm>
          <a:prstGeom prst="roundRect">
            <a:avLst>
              <a:gd name="adj" fmla="val 1694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6CA5F77-64AC-45B9-859B-414FBD1EF49A}"/>
              </a:ext>
            </a:extLst>
          </p:cNvPr>
          <p:cNvSpPr/>
          <p:nvPr/>
        </p:nvSpPr>
        <p:spPr>
          <a:xfrm>
            <a:off x="152359" y="4020418"/>
            <a:ext cx="5809138" cy="2364571"/>
          </a:xfrm>
          <a:prstGeom prst="roundRect">
            <a:avLst>
              <a:gd name="adj" fmla="val 437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EE48286-0B18-4216-9429-DE99F8C2505A}"/>
              </a:ext>
            </a:extLst>
          </p:cNvPr>
          <p:cNvSpPr/>
          <p:nvPr/>
        </p:nvSpPr>
        <p:spPr>
          <a:xfrm>
            <a:off x="6562477" y="309515"/>
            <a:ext cx="5458774" cy="11389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CD1489-F6DF-4E3F-8C1E-C768A85B975C}"/>
              </a:ext>
            </a:extLst>
          </p:cNvPr>
          <p:cNvSpPr txBox="1"/>
          <p:nvPr/>
        </p:nvSpPr>
        <p:spPr>
          <a:xfrm>
            <a:off x="6562476" y="364737"/>
            <a:ext cx="5458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좌표 기준 선택 기능</a:t>
            </a:r>
            <a:endParaRPr lang="en-US" altLang="ko-K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/>
              <a:t>절대 좌표</a:t>
            </a:r>
            <a:r>
              <a:rPr lang="en-US" altLang="ko-KR" sz="1400"/>
              <a:t>/ </a:t>
            </a:r>
            <a:r>
              <a:rPr lang="ko-KR" altLang="en-US" sz="1400"/>
              <a:t>상대 좌표 기준 선택 옵션</a:t>
            </a:r>
            <a:endParaRPr lang="en-US" altLang="ko-K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/>
              <a:t>절대 좌표 </a:t>
            </a:r>
            <a:r>
              <a:rPr lang="en-US" altLang="ko-KR" sz="1400"/>
              <a:t>: </a:t>
            </a:r>
            <a:r>
              <a:rPr lang="ko-KR" altLang="en-US" sz="1400"/>
              <a:t>로봇 </a:t>
            </a:r>
            <a:r>
              <a:rPr lang="en-US" altLang="ko-KR" sz="1400"/>
              <a:t>Base </a:t>
            </a:r>
            <a:r>
              <a:rPr lang="ko-KR" altLang="en-US" sz="1400"/>
              <a:t>좌표계를 기준으로 목표 위치 이동</a:t>
            </a:r>
            <a:endParaRPr lang="en-US" altLang="ko-K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/>
              <a:t>상대 좌표 </a:t>
            </a:r>
            <a:r>
              <a:rPr lang="en-US" altLang="ko-KR" sz="1400"/>
              <a:t>: </a:t>
            </a:r>
            <a:r>
              <a:rPr lang="ko-KR" altLang="en-US" sz="1400"/>
              <a:t>현재 </a:t>
            </a:r>
            <a:r>
              <a:rPr lang="en-US" altLang="ko-KR" sz="1400"/>
              <a:t>End-Effector </a:t>
            </a:r>
            <a:r>
              <a:rPr lang="ko-KR" altLang="en-US" sz="1400"/>
              <a:t>위치를 기준으로 상대이동</a:t>
            </a: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E62963EB-F537-448D-9B87-EB10DB57A0B2}"/>
              </a:ext>
            </a:extLst>
          </p:cNvPr>
          <p:cNvGrpSpPr/>
          <p:nvPr/>
        </p:nvGrpSpPr>
        <p:grpSpPr>
          <a:xfrm>
            <a:off x="6562477" y="1559797"/>
            <a:ext cx="5477164" cy="1138980"/>
            <a:chOff x="6562477" y="1536937"/>
            <a:chExt cx="5352112" cy="113898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84B02225-FB1A-4C42-B2E1-945511D48680}"/>
                </a:ext>
              </a:extLst>
            </p:cNvPr>
            <p:cNvSpPr/>
            <p:nvPr/>
          </p:nvSpPr>
          <p:spPr>
            <a:xfrm>
              <a:off x="6562477" y="1536937"/>
              <a:ext cx="5352112" cy="11389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9CAF49B-DAD3-4B6D-95FF-D90D7F51175D}"/>
                </a:ext>
              </a:extLst>
            </p:cNvPr>
            <p:cNvSpPr txBox="1"/>
            <p:nvPr/>
          </p:nvSpPr>
          <p:spPr>
            <a:xfrm>
              <a:off x="6562477" y="1592159"/>
              <a:ext cx="535211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사용자 입력 기능</a:t>
              </a:r>
              <a:endParaRPr lang="en-US" altLang="ko-KR" sz="1400" b="1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목표 좌표를</a:t>
              </a:r>
              <a:r>
                <a:rPr lang="en-US" altLang="ko-KR" sz="1400"/>
                <a:t>(x,y,z) </a:t>
              </a:r>
              <a:r>
                <a:rPr lang="ko-KR" altLang="en-US" sz="1400"/>
                <a:t>형식으로 입력 가능</a:t>
              </a:r>
              <a:endParaRPr lang="en-US" altLang="ko-KR" sz="140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목표 지점 </a:t>
              </a:r>
              <a:r>
                <a:rPr lang="en-US" altLang="ko-KR" sz="1400"/>
                <a:t>1</a:t>
              </a:r>
              <a:r>
                <a:rPr lang="ko-KR" altLang="en-US" sz="1400"/>
                <a:t>개 이상 입력 가능</a:t>
              </a:r>
              <a:endParaRPr lang="en-US" altLang="ko-KR" sz="140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입력된 목표 좌표를 순차적으로 경로 계획 및 이동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DBF335AB-8B81-44B3-B598-F1B376015382}"/>
              </a:ext>
            </a:extLst>
          </p:cNvPr>
          <p:cNvGrpSpPr/>
          <p:nvPr/>
        </p:nvGrpSpPr>
        <p:grpSpPr>
          <a:xfrm>
            <a:off x="6562477" y="2753289"/>
            <a:ext cx="5477164" cy="839567"/>
            <a:chOff x="6562477" y="2787579"/>
            <a:chExt cx="5352112" cy="839567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A2BC8B4D-76F2-4FA4-B4C3-29B3B976D39E}"/>
                </a:ext>
              </a:extLst>
            </p:cNvPr>
            <p:cNvSpPr/>
            <p:nvPr/>
          </p:nvSpPr>
          <p:spPr>
            <a:xfrm>
              <a:off x="6562477" y="2787579"/>
              <a:ext cx="5352112" cy="83956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A381C6-DB35-43DE-B994-53BC8C75727C}"/>
                </a:ext>
              </a:extLst>
            </p:cNvPr>
            <p:cNvSpPr txBox="1"/>
            <p:nvPr/>
          </p:nvSpPr>
          <p:spPr>
            <a:xfrm>
              <a:off x="6562477" y="2842801"/>
              <a:ext cx="535211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속도 및 가속도 제어 기능</a:t>
              </a:r>
              <a:endParaRPr lang="en-US" altLang="ko-KR" sz="1400" b="1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로봇 암의 이동 속도 및 가속도 값 설정 가능</a:t>
              </a:r>
              <a:endParaRPr lang="en-US" altLang="ko-KR" sz="140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입력된 값이 </a:t>
              </a:r>
              <a:r>
                <a:rPr lang="en-US" altLang="ko-KR" sz="1400"/>
                <a:t>MoveIt </a:t>
              </a:r>
              <a:r>
                <a:rPr lang="ko-KR" altLang="en-US" sz="1400"/>
                <a:t>경로 계획에 반영되어 실행</a:t>
              </a:r>
              <a:endParaRPr lang="en-US" altLang="ko-KR" sz="140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7F8B206F-76F6-4C3D-ADD2-0D9A1C7FD2BB}"/>
              </a:ext>
            </a:extLst>
          </p:cNvPr>
          <p:cNvGrpSpPr/>
          <p:nvPr/>
        </p:nvGrpSpPr>
        <p:grpSpPr>
          <a:xfrm>
            <a:off x="6562477" y="3758125"/>
            <a:ext cx="5477164" cy="700151"/>
            <a:chOff x="6562477" y="3735265"/>
            <a:chExt cx="5352112" cy="700151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2C978B03-7C57-427E-9B55-047789419B21}"/>
                </a:ext>
              </a:extLst>
            </p:cNvPr>
            <p:cNvSpPr/>
            <p:nvPr/>
          </p:nvSpPr>
          <p:spPr>
            <a:xfrm>
              <a:off x="6562477" y="3735265"/>
              <a:ext cx="5352112" cy="70015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ED427B4-601C-4009-B382-4278914ED810}"/>
                </a:ext>
              </a:extLst>
            </p:cNvPr>
            <p:cNvSpPr txBox="1"/>
            <p:nvPr/>
          </p:nvSpPr>
          <p:spPr>
            <a:xfrm>
              <a:off x="6562477" y="3790487"/>
              <a:ext cx="53521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실행 버튼 기능</a:t>
              </a:r>
              <a:endParaRPr lang="en-US" altLang="ko-KR" sz="1400" b="1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실행 버튼 입력 시</a:t>
              </a:r>
              <a:r>
                <a:rPr lang="en-US" altLang="ko-KR" sz="1400"/>
                <a:t>, </a:t>
              </a:r>
              <a:r>
                <a:rPr lang="ko-KR" altLang="en-US" sz="1400"/>
                <a:t>별도 스레드에서 로봇 제어 실행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4774AF44-10EC-4068-B995-F981BF692045}"/>
              </a:ext>
            </a:extLst>
          </p:cNvPr>
          <p:cNvGrpSpPr/>
          <p:nvPr/>
        </p:nvGrpSpPr>
        <p:grpSpPr>
          <a:xfrm>
            <a:off x="6562476" y="4658103"/>
            <a:ext cx="5477163" cy="1582677"/>
            <a:chOff x="6562477" y="4658103"/>
            <a:chExt cx="5352112" cy="1582677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D88919F5-2EFA-499A-ABCC-E43C98BBE324}"/>
                </a:ext>
              </a:extLst>
            </p:cNvPr>
            <p:cNvSpPr/>
            <p:nvPr/>
          </p:nvSpPr>
          <p:spPr>
            <a:xfrm>
              <a:off x="6562477" y="4658103"/>
              <a:ext cx="5352112" cy="1582677"/>
            </a:xfrm>
            <a:prstGeom prst="roundRect">
              <a:avLst>
                <a:gd name="adj" fmla="val 8001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099E77E-4469-4133-8866-0979FAC6C3E5}"/>
                </a:ext>
              </a:extLst>
            </p:cNvPr>
            <p:cNvSpPr txBox="1"/>
            <p:nvPr/>
          </p:nvSpPr>
          <p:spPr>
            <a:xfrm>
              <a:off x="6562477" y="4765725"/>
              <a:ext cx="535211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상태 모니터링 및 로그 출력 기능</a:t>
              </a:r>
              <a:endParaRPr lang="en-US" altLang="ko-KR" sz="1400" b="1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로봇 연결 상태 확인</a:t>
              </a:r>
              <a:endParaRPr lang="en-US" altLang="ko-KR" sz="140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로봇 동작 중 </a:t>
              </a:r>
              <a:r>
                <a:rPr lang="en-US" altLang="ko-KR" sz="1400"/>
                <a:t>/ </a:t>
              </a:r>
              <a:r>
                <a:rPr lang="ko-KR" altLang="en-US" sz="1400"/>
                <a:t>정지 상태 표시</a:t>
              </a:r>
              <a:endParaRPr lang="en-US" altLang="ko-KR" sz="140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실시간 실행 로그 출력</a:t>
              </a:r>
              <a:endParaRPr lang="en-US" altLang="ko-KR" sz="140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각 관절의 현재 </a:t>
              </a:r>
              <a:r>
                <a:rPr lang="en-US" altLang="ko-KR" sz="1400"/>
                <a:t>Joint </a:t>
              </a:r>
              <a:r>
                <a:rPr lang="ko-KR" altLang="en-US" sz="1400"/>
                <a:t>각도 값 표시</a:t>
              </a:r>
              <a:endParaRPr lang="en-US" altLang="ko-KR" sz="140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1400"/>
                <a:t>로봇 </a:t>
              </a:r>
              <a:r>
                <a:rPr lang="en-US" altLang="ko-KR" sz="1400"/>
                <a:t>base </a:t>
              </a:r>
              <a:r>
                <a:rPr lang="ko-KR" altLang="en-US" sz="1400"/>
                <a:t>기준 </a:t>
              </a:r>
              <a:r>
                <a:rPr lang="en-US" altLang="ko-KR" sz="1400"/>
                <a:t>End-Effector </a:t>
              </a:r>
              <a:r>
                <a:rPr lang="ko-KR" altLang="en-US" sz="1400"/>
                <a:t>절대 위치 표시</a:t>
              </a:r>
            </a:p>
          </p:txBody>
        </p:sp>
      </p:grp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027AB81-938E-48F9-8D45-57E3A297BC32}"/>
              </a:ext>
            </a:extLst>
          </p:cNvPr>
          <p:cNvCxnSpPr>
            <a:cxnSpLocks/>
            <a:stCxn id="29" idx="3"/>
            <a:endCxn id="36" idx="1"/>
          </p:cNvCxnSpPr>
          <p:nvPr/>
        </p:nvCxnSpPr>
        <p:spPr>
          <a:xfrm flipV="1">
            <a:off x="5979886" y="841791"/>
            <a:ext cx="582590" cy="3969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EA9FFA8-645A-45E8-8665-497B094CF850}"/>
              </a:ext>
            </a:extLst>
          </p:cNvPr>
          <p:cNvCxnSpPr>
            <a:cxnSpLocks/>
            <a:stCxn id="30" idx="3"/>
            <a:endCxn id="39" idx="1"/>
          </p:cNvCxnSpPr>
          <p:nvPr/>
        </p:nvCxnSpPr>
        <p:spPr>
          <a:xfrm flipV="1">
            <a:off x="5961497" y="2092073"/>
            <a:ext cx="600980" cy="1381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DFC0155-4C5A-4E92-B266-77C26E7C0534}"/>
              </a:ext>
            </a:extLst>
          </p:cNvPr>
          <p:cNvCxnSpPr>
            <a:cxnSpLocks/>
            <a:stCxn id="31" idx="3"/>
            <a:endCxn id="42" idx="1"/>
          </p:cNvCxnSpPr>
          <p:nvPr/>
        </p:nvCxnSpPr>
        <p:spPr>
          <a:xfrm flipV="1">
            <a:off x="5961497" y="3177843"/>
            <a:ext cx="600980" cy="433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B504D19-6013-4339-89C3-0E67A6F447C5}"/>
              </a:ext>
            </a:extLst>
          </p:cNvPr>
          <p:cNvCxnSpPr>
            <a:cxnSpLocks/>
            <a:stCxn id="32" idx="3"/>
            <a:endCxn id="45" idx="1"/>
          </p:cNvCxnSpPr>
          <p:nvPr/>
        </p:nvCxnSpPr>
        <p:spPr>
          <a:xfrm>
            <a:off x="5961497" y="3836520"/>
            <a:ext cx="600980" cy="23843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8993D23-3308-4BFE-9139-94D2742F2381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5961497" y="5202704"/>
            <a:ext cx="600979" cy="2555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54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66613-2640-4B3D-A158-D97C6837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464"/>
            <a:ext cx="2540001" cy="485836"/>
          </a:xfrm>
        </p:spPr>
        <p:txBody>
          <a:bodyPr>
            <a:normAutofit/>
          </a:bodyPr>
          <a:lstStyle/>
          <a:p>
            <a:r>
              <a:rPr lang="ko-KR" altLang="en-US" sz="2400" b="1"/>
              <a:t>실행 결과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0DB44-B0EB-49CE-AA50-2D61052CAA38}"/>
              </a:ext>
            </a:extLst>
          </p:cNvPr>
          <p:cNvSpPr txBox="1"/>
          <p:nvPr/>
        </p:nvSpPr>
        <p:spPr>
          <a:xfrm>
            <a:off x="501162" y="570523"/>
            <a:ext cx="10691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GUI</a:t>
            </a:r>
            <a:r>
              <a:rPr lang="ko-KR" altLang="en-US"/>
              <a:t>를 통해 복수의 목표 좌표와 속도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/>
              <a:t>가속도를 입력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MoveIt </a:t>
            </a:r>
            <a:r>
              <a:rPr lang="ko-KR" altLang="en-US"/>
              <a:t>기반 경로 계획이 정상적으로 수행됨을 확인</a:t>
            </a:r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B60FE8-46F2-4A40-9C41-ACE1706FB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57" y="1669716"/>
            <a:ext cx="4472765" cy="4836099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C0530EDA-AB83-4F7C-BAC2-B5648484A7E4}"/>
              </a:ext>
            </a:extLst>
          </p:cNvPr>
          <p:cNvGrpSpPr/>
          <p:nvPr/>
        </p:nvGrpSpPr>
        <p:grpSpPr>
          <a:xfrm>
            <a:off x="7126066" y="1493853"/>
            <a:ext cx="3803651" cy="5251053"/>
            <a:chOff x="7388956" y="1334199"/>
            <a:chExt cx="3803651" cy="5251053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48786E6-8C32-45BD-B35C-DC46A8F90B08}"/>
                </a:ext>
              </a:extLst>
            </p:cNvPr>
            <p:cNvGrpSpPr/>
            <p:nvPr/>
          </p:nvGrpSpPr>
          <p:grpSpPr>
            <a:xfrm>
              <a:off x="7388957" y="1334199"/>
              <a:ext cx="3803650" cy="2598127"/>
              <a:chOff x="7388957" y="1334199"/>
              <a:chExt cx="3803650" cy="2598127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E33A5DC-B63F-4DBC-B468-F773A274AD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6755" t="9340" r="1378" b="3502"/>
              <a:stretch/>
            </p:blipFill>
            <p:spPr>
              <a:xfrm>
                <a:off x="7388957" y="1334199"/>
                <a:ext cx="3803650" cy="2598127"/>
              </a:xfrm>
              <a:prstGeom prst="rect">
                <a:avLst/>
              </a:prstGeom>
            </p:spPr>
          </p:pic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409C48C2-8627-43B4-BE0A-9ED2ECC13B3D}"/>
                  </a:ext>
                </a:extLst>
              </p:cNvPr>
              <p:cNvSpPr/>
              <p:nvPr/>
            </p:nvSpPr>
            <p:spPr>
              <a:xfrm>
                <a:off x="9829800" y="1356465"/>
                <a:ext cx="1362807" cy="30719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/>
                  <a:t>실행 전</a:t>
                </a: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E979014-1CCE-4A9A-BB4D-8B8589D9C862}"/>
                </a:ext>
              </a:extLst>
            </p:cNvPr>
            <p:cNvGrpSpPr/>
            <p:nvPr/>
          </p:nvGrpSpPr>
          <p:grpSpPr>
            <a:xfrm>
              <a:off x="7388956" y="3987125"/>
              <a:ext cx="3803651" cy="2598127"/>
              <a:chOff x="7388956" y="3987125"/>
              <a:chExt cx="3803651" cy="2598127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9BDD5410-021B-4937-AC9C-8E6AF0A223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6754" t="9334" r="1378" b="3685"/>
              <a:stretch/>
            </p:blipFill>
            <p:spPr>
              <a:xfrm>
                <a:off x="7388956" y="3987125"/>
                <a:ext cx="3803651" cy="2598127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B6A0273-A8AF-432F-ACB7-21A10CFDFCD6}"/>
                  </a:ext>
                </a:extLst>
              </p:cNvPr>
              <p:cNvSpPr/>
              <p:nvPr/>
            </p:nvSpPr>
            <p:spPr>
              <a:xfrm>
                <a:off x="9829799" y="4003334"/>
                <a:ext cx="1362807" cy="30719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/>
                  <a:t>실행 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082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66613-2640-4B3D-A158-D97C6837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464"/>
            <a:ext cx="2800351" cy="485836"/>
          </a:xfrm>
        </p:spPr>
        <p:txBody>
          <a:bodyPr>
            <a:normAutofit fontScale="90000"/>
          </a:bodyPr>
          <a:lstStyle/>
          <a:p>
            <a:r>
              <a:rPr lang="ko-KR" altLang="en-US" sz="2400" b="1"/>
              <a:t>요구사항 충족 여부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D35AFCAD-0A93-4266-B0E0-9DC991E25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910003"/>
              </p:ext>
            </p:extLst>
          </p:nvPr>
        </p:nvGraphicFramePr>
        <p:xfrm>
          <a:off x="1548764" y="495300"/>
          <a:ext cx="8749666" cy="620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1696">
                  <a:extLst>
                    <a:ext uri="{9D8B030D-6E8A-4147-A177-3AD203B41FA5}">
                      <a16:colId xmlns:a16="http://schemas.microsoft.com/office/drawing/2014/main" val="3457591839"/>
                    </a:ext>
                  </a:extLst>
                </a:gridCol>
                <a:gridCol w="3661415">
                  <a:extLst>
                    <a:ext uri="{9D8B030D-6E8A-4147-A177-3AD203B41FA5}">
                      <a16:colId xmlns:a16="http://schemas.microsoft.com/office/drawing/2014/main" val="418201372"/>
                    </a:ext>
                  </a:extLst>
                </a:gridCol>
                <a:gridCol w="2916555">
                  <a:extLst>
                    <a:ext uri="{9D8B030D-6E8A-4147-A177-3AD203B41FA5}">
                      <a16:colId xmlns:a16="http://schemas.microsoft.com/office/drawing/2014/main" val="161899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요구사항 내용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구현 여부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955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입력기능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목표 좌표 </a:t>
                      </a:r>
                      <a:r>
                        <a:rPr lang="en-US" altLang="ko-KR"/>
                        <a:t>(x, y, z) </a:t>
                      </a:r>
                      <a:r>
                        <a:rPr lang="ko-KR" altLang="en-US"/>
                        <a:t>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815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/>
                        <a:t>입력기능</a:t>
                      </a:r>
                    </a:p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목표 좌표 </a:t>
                      </a:r>
                      <a:r>
                        <a:rPr lang="en-US" altLang="ko-KR"/>
                        <a:t>1</a:t>
                      </a:r>
                      <a:r>
                        <a:rPr lang="ko-KR" altLang="en-US"/>
                        <a:t>개 이상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60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좌표기준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절대 좌표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상대 좌표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294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제어 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최대 속도 설정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57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제어 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최대 가속도 설정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38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동작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입력된 목표 지점 순차 이도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1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GUI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PyQt5 </a:t>
                      </a:r>
                      <a:r>
                        <a:rPr lang="ko-KR" altLang="en-US"/>
                        <a:t>기반 </a:t>
                      </a:r>
                      <a:r>
                        <a:rPr lang="en-US" altLang="ko-KR"/>
                        <a:t>GUI </a:t>
                      </a:r>
                      <a:r>
                        <a:rPr lang="ko-KR" altLang="en-US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575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GUI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코드 기반 </a:t>
                      </a:r>
                      <a:r>
                        <a:rPr lang="en-US" altLang="ko-KR"/>
                        <a:t>GUI </a:t>
                      </a:r>
                      <a:r>
                        <a:rPr lang="ko-KR" altLang="en-US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806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GUI </a:t>
                      </a:r>
                      <a:r>
                        <a:rPr lang="ko-KR" altLang="en-US"/>
                        <a:t>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버튼 동작 시 별도 스레드 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067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상태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로봇 연결 상태 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786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상태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로봇 동작 중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정지 상태 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367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상태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실시간 로그 출력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940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상태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각 관절의 </a:t>
                      </a:r>
                      <a:r>
                        <a:rPr lang="en-US" altLang="ko-KR"/>
                        <a:t>Joint </a:t>
                      </a:r>
                      <a:r>
                        <a:rPr lang="ko-KR" altLang="en-US"/>
                        <a:t>각도 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68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상태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End-Effector </a:t>
                      </a:r>
                      <a:r>
                        <a:rPr lang="ko-KR" altLang="en-US"/>
                        <a:t>절대 좌표 표시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48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실행 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ros2 launch / ros2 run </a:t>
                      </a:r>
                      <a:r>
                        <a:rPr lang="ko-KR" altLang="en-US"/>
                        <a:t>기반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012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08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66613-2640-4B3D-A158-D97C6837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464"/>
            <a:ext cx="2800351" cy="485836"/>
          </a:xfrm>
        </p:spPr>
        <p:txBody>
          <a:bodyPr>
            <a:normAutofit/>
          </a:bodyPr>
          <a:lstStyle/>
          <a:p>
            <a:r>
              <a:rPr lang="ko-KR" altLang="en-US" sz="2400" b="1"/>
              <a:t>결론 및 제언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48447-5648-4473-8583-EC0218729D41}"/>
              </a:ext>
            </a:extLst>
          </p:cNvPr>
          <p:cNvSpPr txBox="1"/>
          <p:nvPr/>
        </p:nvSpPr>
        <p:spPr>
          <a:xfrm>
            <a:off x="501162" y="773723"/>
            <a:ext cx="1069144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/>
              <a:t>결론</a:t>
            </a:r>
            <a:endParaRPr lang="en-US" altLang="ko-KR" sz="2000" b="1"/>
          </a:p>
          <a:p>
            <a:pPr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>
                <a:latin typeface="Arial" panose="020B0604020202020204" pitchFamily="34" charset="0"/>
              </a:rPr>
              <a:t> </a:t>
            </a:r>
            <a:r>
              <a:rPr lang="en-US" altLang="ko-KR"/>
              <a:t>ROS2 </a:t>
            </a:r>
            <a:r>
              <a:rPr lang="ko-KR" altLang="en-US"/>
              <a:t>및 </a:t>
            </a:r>
            <a:r>
              <a:rPr lang="en-US" altLang="ko-KR"/>
              <a:t>MoveIt2 </a:t>
            </a:r>
            <a:r>
              <a:rPr lang="ko-KR" altLang="en-US"/>
              <a:t>기반 </a:t>
            </a:r>
            <a:r>
              <a:rPr lang="en-US" altLang="ko-KR"/>
              <a:t>Doosan E0509 </a:t>
            </a:r>
            <a:r>
              <a:rPr lang="ko-KR" altLang="en-US"/>
              <a:t>로봇암 제어 시뮬레이션 시스템 구현</a:t>
            </a:r>
            <a:endParaRPr lang="en-US" altLang="ko-KR"/>
          </a:p>
          <a:p>
            <a:pPr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/>
              <a:t> PyQt5 </a:t>
            </a:r>
            <a:r>
              <a:rPr lang="ko-KR" altLang="en-US"/>
              <a:t>기반 </a:t>
            </a:r>
            <a:r>
              <a:rPr lang="en-US" altLang="ko-KR"/>
              <a:t>GUI</a:t>
            </a:r>
            <a:r>
              <a:rPr lang="ko-KR" altLang="en-US"/>
              <a:t>를 활용한 목표 좌표</a:t>
            </a:r>
            <a:r>
              <a:rPr lang="en-US" altLang="ko-KR"/>
              <a:t>(x, y, z) </a:t>
            </a:r>
            <a:r>
              <a:rPr lang="ko-KR" altLang="en-US"/>
              <a:t>및 속도</a:t>
            </a:r>
            <a:r>
              <a:rPr lang="en-US" altLang="ko-KR"/>
              <a:t>·</a:t>
            </a:r>
            <a:r>
              <a:rPr lang="ko-KR" altLang="en-US"/>
              <a:t>가속도 입력 기능 구현</a:t>
            </a:r>
          </a:p>
          <a:p>
            <a:pPr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/>
              <a:t> </a:t>
            </a:r>
            <a:r>
              <a:rPr lang="ko-KR" altLang="en-US"/>
              <a:t>입력된 목표 좌표를 기반으로 로봇 암 말단</a:t>
            </a:r>
            <a:r>
              <a:rPr lang="en-US" altLang="ko-KR"/>
              <a:t>(End-Effector)</a:t>
            </a:r>
            <a:r>
              <a:rPr lang="ko-KR" altLang="en-US"/>
              <a:t>의 순차적 이동 제어 기능 구현</a:t>
            </a:r>
            <a:endParaRPr lang="ko-KR" altLang="ko-KR"/>
          </a:p>
          <a:p>
            <a:pPr marR="0" lvl="1" indent="-2857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/>
              <a:t> </a:t>
            </a:r>
            <a:r>
              <a:rPr lang="ko-KR" altLang="ko-KR"/>
              <a:t>ros2 launch 및 ros2 run 기반 실행 구조 적용을 통한 시스템 재현성 및 안정성 확보</a:t>
            </a:r>
            <a:endParaRPr lang="en-US" altLang="ko-KR"/>
          </a:p>
          <a:p>
            <a:pPr marR="0" lvl="1" indent="-2857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/>
              <a:t> MoveIt2 </a:t>
            </a:r>
            <a:r>
              <a:rPr lang="ko-KR" altLang="en-US"/>
              <a:t>기반 경로 계획 및 실행 결과의 정상 동작 검증</a:t>
            </a:r>
            <a:endParaRPr lang="ko-KR" altLang="ko-KR"/>
          </a:p>
          <a:p>
            <a:pPr marR="0" lvl="1" indent="-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o-KR" altLang="ko-KR"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b="0" i="0">
              <a:solidFill>
                <a:srgbClr val="0D0D0D"/>
              </a:solidFill>
              <a:effectLst/>
              <a:latin typeface="ui-sans-serif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2C8D22-DEF4-4EF5-86A1-C168CC7904EA}"/>
              </a:ext>
            </a:extLst>
          </p:cNvPr>
          <p:cNvSpPr txBox="1"/>
          <p:nvPr/>
        </p:nvSpPr>
        <p:spPr>
          <a:xfrm>
            <a:off x="501162" y="2813447"/>
            <a:ext cx="110774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/>
              <a:t>제언</a:t>
            </a:r>
            <a:r>
              <a:rPr lang="en-US" altLang="ko-KR" sz="2000" b="1"/>
              <a:t>(Physical AI </a:t>
            </a:r>
            <a:r>
              <a:rPr lang="ko-KR" altLang="en-US" sz="2000" b="1"/>
              <a:t>확장 관점</a:t>
            </a:r>
            <a:r>
              <a:rPr lang="en-US" altLang="ko-KR" sz="2000" b="1"/>
              <a:t>)	</a:t>
            </a:r>
          </a:p>
          <a:p>
            <a:pPr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ROS2 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기반 로봇 제어 시스템의 모듈형 설계 및 확장 가능성에 대한 실습 기반 이해</a:t>
            </a:r>
          </a:p>
          <a:p>
            <a:pPr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GUI 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입력부터 로봇 동작까지의 제어 파이프라인 구현을 통한 </a:t>
            </a: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Physical AI 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시스템 구조 이해</a:t>
            </a:r>
          </a:p>
          <a:p>
            <a:pPr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Gazebo 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환경에서 </a:t>
            </a: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YOLOv8 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객체 인식 연동 실험을 통한 인식</a:t>
            </a: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–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판단</a:t>
            </a:r>
            <a:r>
              <a:rPr lang="en-US" altLang="ko-KR" b="0" i="0">
                <a:solidFill>
                  <a:srgbClr val="0D0D0D"/>
                </a:solidFill>
                <a:effectLst/>
                <a:latin typeface="ui-sans-serif"/>
              </a:rPr>
              <a:t>–</a:t>
            </a:r>
            <a:r>
              <a:rPr lang="ko-KR" altLang="en-US" b="0" i="0">
                <a:solidFill>
                  <a:srgbClr val="0D0D0D"/>
                </a:solidFill>
                <a:effectLst/>
                <a:latin typeface="ui-sans-serif"/>
              </a:rPr>
              <a:t>제어 통합형 로봇 시스템으로의 확장 가능성 확인</a:t>
            </a:r>
          </a:p>
          <a:p>
            <a:pPr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en-US" b="0" i="0">
              <a:solidFill>
                <a:srgbClr val="0D0D0D"/>
              </a:solidFill>
              <a:effectLst/>
              <a:latin typeface="ui-sans-serif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2E37FF-6F5E-48E9-89F9-9B0A444AC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75" y="4156855"/>
            <a:ext cx="6420050" cy="24814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44B8E-1CC7-48D5-99CC-6C21EE634070}"/>
              </a:ext>
            </a:extLst>
          </p:cNvPr>
          <p:cNvSpPr txBox="1"/>
          <p:nvPr/>
        </p:nvSpPr>
        <p:spPr>
          <a:xfrm>
            <a:off x="4446872" y="6638275"/>
            <a:ext cx="4138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</a:t>
            </a:r>
            <a:r>
              <a:rPr lang="en-US" altLang="ko-KR" sz="1100" b="1" i="0">
                <a:solidFill>
                  <a:srgbClr val="0D0D0D"/>
                </a:solidFill>
                <a:effectLst/>
              </a:rPr>
              <a:t>Gazebo </a:t>
            </a:r>
            <a:r>
              <a:rPr lang="ko-KR" altLang="en-US" sz="1100" b="1" i="0">
                <a:solidFill>
                  <a:srgbClr val="0D0D0D"/>
                </a:solidFill>
                <a:effectLst/>
              </a:rPr>
              <a:t>시뮬레이션 기반 객체 인식</a:t>
            </a:r>
            <a:r>
              <a:rPr lang="en-US" altLang="ko-KR" sz="1100" b="1" i="0">
                <a:solidFill>
                  <a:srgbClr val="0D0D0D"/>
                </a:solidFill>
                <a:effectLst/>
              </a:rPr>
              <a:t>( YOLOv8 ) </a:t>
            </a:r>
            <a:r>
              <a:rPr lang="ko-KR" altLang="en-US" sz="1100" b="1" i="0">
                <a:solidFill>
                  <a:srgbClr val="0D0D0D"/>
                </a:solidFill>
                <a:effectLst/>
              </a:rPr>
              <a:t>확장 사례</a:t>
            </a:r>
            <a:r>
              <a:rPr lang="en-US" altLang="ko-KR" sz="1100" b="1" i="0">
                <a:solidFill>
                  <a:srgbClr val="0D0D0D"/>
                </a:solidFill>
                <a:effectLst/>
              </a:rPr>
              <a:t>&gt;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4093056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1118</Words>
  <Application>Microsoft Office PowerPoint</Application>
  <PresentationFormat>와이드스크린</PresentationFormat>
  <Paragraphs>178</Paragraphs>
  <Slides>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ui-sans-serif</vt:lpstr>
      <vt:lpstr>Arial</vt:lpstr>
      <vt:lpstr>맑은 고딕</vt:lpstr>
      <vt:lpstr>Office 테마</vt:lpstr>
      <vt:lpstr>ROS2를 이용한 로봇암  시뮬레이션 제작</vt:lpstr>
      <vt:lpstr>프로젝트 개요</vt:lpstr>
      <vt:lpstr>시스템 구성도</vt:lpstr>
      <vt:lpstr>디렉토리 구조</vt:lpstr>
      <vt:lpstr>실행 방법</vt:lpstr>
      <vt:lpstr>주요 기능 구현</vt:lpstr>
      <vt:lpstr>실행 결과</vt:lpstr>
      <vt:lpstr>요구사항 충족 여부</vt:lpstr>
      <vt:lpstr>결론 및 제언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지훈 김</dc:creator>
  <cp:lastModifiedBy>지훈 김</cp:lastModifiedBy>
  <cp:revision>24</cp:revision>
  <dcterms:created xsi:type="dcterms:W3CDTF">2026-01-13T18:03:10Z</dcterms:created>
  <dcterms:modified xsi:type="dcterms:W3CDTF">2026-01-19T04:00:56Z</dcterms:modified>
</cp:coreProperties>
</file>